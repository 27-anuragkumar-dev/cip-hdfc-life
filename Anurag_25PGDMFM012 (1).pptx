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Oswald Medium"/>
      <p:regular r:id="rId14"/>
      <p:bold r:id="rId15"/>
    </p:embeddedFont>
    <p:embeddedFont>
      <p:font typeface="Inter SemiBold"/>
      <p:regular r:id="rId16"/>
      <p:bold r:id="rId17"/>
      <p:italic r:id="rId18"/>
      <p:boldItalic r:id="rId19"/>
    </p:embeddedFont>
    <p:embeddedFont>
      <p:font typeface="Nunito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Maven Pro"/>
      <p:regular r:id="rId28"/>
      <p:bold r:id="rId29"/>
    </p:embeddedFont>
    <p:embeddedFont>
      <p:font typeface="DM Sans SemiBold"/>
      <p:regular r:id="rId30"/>
      <p:bold r:id="rId31"/>
      <p:italic r:id="rId32"/>
      <p:boldItalic r:id="rId33"/>
    </p:embeddedFont>
    <p:embeddedFont>
      <p:font typeface="Oswald"/>
      <p:regular r:id="rId34"/>
      <p:bold r:id="rId35"/>
    </p:embeddedFont>
    <p:embeddedFont>
      <p:font typeface="Carlito"/>
      <p:regular r:id="rId36"/>
      <p:bold r:id="rId37"/>
      <p:italic r:id="rId38"/>
      <p:boldItalic r:id="rId39"/>
    </p:embeddedFont>
    <p:embeddedFont>
      <p:font typeface="DM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4" roundtripDataSignature="AMtx7mi4y6QGZ+3DtTdZIZ2cu/4CkGLG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regular.fntdata"/><Relationship Id="rId20" Type="http://schemas.openxmlformats.org/officeDocument/2006/relationships/font" Target="fonts/Nunito-regular.fntdata"/><Relationship Id="rId42" Type="http://schemas.openxmlformats.org/officeDocument/2006/relationships/font" Target="fonts/DMSans-italic.fntdata"/><Relationship Id="rId41" Type="http://schemas.openxmlformats.org/officeDocument/2006/relationships/font" Target="fonts/DMSans-bold.fntdata"/><Relationship Id="rId22" Type="http://schemas.openxmlformats.org/officeDocument/2006/relationships/font" Target="fonts/Nunito-italic.fntdata"/><Relationship Id="rId44" Type="http://customschemas.google.com/relationships/presentationmetadata" Target="metadata"/><Relationship Id="rId21" Type="http://schemas.openxmlformats.org/officeDocument/2006/relationships/font" Target="fonts/Nunito-bold.fntdata"/><Relationship Id="rId43" Type="http://schemas.openxmlformats.org/officeDocument/2006/relationships/font" Target="fonts/DMSans-boldItalic.fntdata"/><Relationship Id="rId24" Type="http://schemas.openxmlformats.org/officeDocument/2006/relationships/font" Target="fonts/Inter-regular.fntdata"/><Relationship Id="rId23" Type="http://schemas.openxmlformats.org/officeDocument/2006/relationships/font" Target="fonts/Nunito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MavenPro-regular.fntdata"/><Relationship Id="rId27" Type="http://schemas.openxmlformats.org/officeDocument/2006/relationships/font" Target="fonts/Inter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avenPr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DMSansSemiBold-bold.fntdata"/><Relationship Id="rId30" Type="http://schemas.openxmlformats.org/officeDocument/2006/relationships/font" Target="fonts/DMSansSemiBold-regular.fntdata"/><Relationship Id="rId11" Type="http://schemas.openxmlformats.org/officeDocument/2006/relationships/slide" Target="slides/slide7.xml"/><Relationship Id="rId33" Type="http://schemas.openxmlformats.org/officeDocument/2006/relationships/font" Target="fonts/DMSansSemiBold-boldItalic.fntdata"/><Relationship Id="rId10" Type="http://schemas.openxmlformats.org/officeDocument/2006/relationships/slide" Target="slides/slide6.xml"/><Relationship Id="rId32" Type="http://schemas.openxmlformats.org/officeDocument/2006/relationships/font" Target="fonts/DMSansSemiBold-italic.fntdata"/><Relationship Id="rId13" Type="http://schemas.openxmlformats.org/officeDocument/2006/relationships/slide" Target="slides/slide9.xml"/><Relationship Id="rId35" Type="http://schemas.openxmlformats.org/officeDocument/2006/relationships/font" Target="fonts/Oswald-bold.fntdata"/><Relationship Id="rId12" Type="http://schemas.openxmlformats.org/officeDocument/2006/relationships/slide" Target="slides/slide8.xml"/><Relationship Id="rId34" Type="http://schemas.openxmlformats.org/officeDocument/2006/relationships/font" Target="fonts/Oswald-regular.fntdata"/><Relationship Id="rId15" Type="http://schemas.openxmlformats.org/officeDocument/2006/relationships/font" Target="fonts/OswaldMedium-bold.fntdata"/><Relationship Id="rId37" Type="http://schemas.openxmlformats.org/officeDocument/2006/relationships/font" Target="fonts/Carlito-bold.fntdata"/><Relationship Id="rId14" Type="http://schemas.openxmlformats.org/officeDocument/2006/relationships/font" Target="fonts/OswaldMedium-regular.fntdata"/><Relationship Id="rId36" Type="http://schemas.openxmlformats.org/officeDocument/2006/relationships/font" Target="fonts/Carlito-regular.fntdata"/><Relationship Id="rId17" Type="http://schemas.openxmlformats.org/officeDocument/2006/relationships/font" Target="fonts/InterSemiBold-bold.fntdata"/><Relationship Id="rId39" Type="http://schemas.openxmlformats.org/officeDocument/2006/relationships/font" Target="fonts/Carlito-boldItalic.fntdata"/><Relationship Id="rId16" Type="http://schemas.openxmlformats.org/officeDocument/2006/relationships/font" Target="fonts/InterSemiBold-regular.fntdata"/><Relationship Id="rId38" Type="http://schemas.openxmlformats.org/officeDocument/2006/relationships/font" Target="fonts/Carlito-italic.fntdata"/><Relationship Id="rId19" Type="http://schemas.openxmlformats.org/officeDocument/2006/relationships/font" Target="fonts/InterSemiBold-boldItalic.fntdata"/><Relationship Id="rId18" Type="http://schemas.openxmlformats.org/officeDocument/2006/relationships/font" Target="fonts/Inter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Time: 15 seconds.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Say: your name, your organisation, and that your talk has two parts - your internship work and the AI solution you built.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All specialisations: same for everyone.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Next: introduce yourself and where you worked.</a:t>
            </a:r>
            <a:endParaRPr/>
          </a:p>
        </p:txBody>
      </p:sp>
      <p:sp>
        <p:nvSpPr>
          <p:cNvPr id="281" name="Google Shape;281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Time: 30 seconds. Keep setup short - the focus is your work.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Say: who you are (left), then the organisation and where you sat in it (right). One line each.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All specialisations: keep the organisation to a sentence.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Next: the mandate you were given.</a:t>
            </a:r>
            <a:endParaRPr/>
          </a:p>
        </p:txBody>
      </p:sp>
      <p:sp>
        <p:nvSpPr>
          <p:cNvPr id="289" name="Google Shape;28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Time: 30 seconds.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Say: your core responsibility, your project responsibility, and who you worked with. One action verb each.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Marketing: ran campaigns / analysed a segment / worked with the brand team. Finance: maintained a model / analysed a portfolio / reported to the finance head. HR: screened candidates / ran a hiring project / coordinated with managers. Operations: tracked a process / ran an improvement project / worked with the plant or vendor team.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Next: what you actually did - your main slide.</a:t>
            </a:r>
            <a:endParaRPr/>
          </a:p>
        </p:txBody>
      </p:sp>
      <p:sp>
        <p:nvSpPr>
          <p:cNvPr id="300" name="Google Shape;30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Time: 55 seconds. YOUR MOST IMPORTANT SLIDE. Slow down and show your work.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Say: how you approached the task, what you actually did (in detail, using 'I'), and one challenge you worked through.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All specialisations: this is where ownership is judged. Be specific about YOUR actions, not the team's. Name your methods or tools.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Next: what your work produced.</a:t>
            </a:r>
            <a:endParaRPr/>
          </a:p>
        </p:txBody>
      </p:sp>
      <p:sp>
        <p:nvSpPr>
          <p:cNvPr id="312" name="Google Shape;31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Time: 45 seconds. Second core slide - give it room.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Say: what you delivered, the measured outcome (a number where you have one), and the value to the organisation.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Marketing: leads, reach, conversion. Finance: money saved, error found, time cut. HR: candidates hired, time-to-fill cut. Operations: time, cost, error rate or throughput. Label any estimate.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Next: what the internship showed about you.</a:t>
            </a:r>
            <a:endParaRPr/>
          </a:p>
        </p:txBody>
      </p:sp>
      <p:sp>
        <p:nvSpPr>
          <p:cNvPr id="324" name="Google Shape;32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" name="Google Shape;33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Time: 25 seconds.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Say: two strengths the internship drew out (with evidence), and one honest area for growth plus the step you are taking on it.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All specialisations: use real evidence from what you just described. Owning a development area shows maturity.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Next: Part 2 - your AI solution.</a:t>
            </a:r>
            <a:endParaRPr/>
          </a:p>
        </p:txBody>
      </p:sp>
      <p:sp>
        <p:nvSpPr>
          <p:cNvPr id="336" name="Google Shape;33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Time: 55 seconds. This is all of Part 2 - the only AI slide before the close.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Say: FIRST the gap you spotted (the problem, who it affects). THEN your solution - input, what the AI does in plain language, the output (show one real example), and the human decision point plus one limit.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All specialisations: state the gap in one line, then spend the time on your own tool. Keep the AI explanation in plain English. Always name who checks the output.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Next: close by connecting both parts.</a:t>
            </a:r>
            <a:endParaRPr/>
          </a:p>
        </p:txBody>
      </p:sp>
      <p:sp>
        <p:nvSpPr>
          <p:cNvPr id="347" name="Google Shape;34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Time: 25 seconds. Close firmly.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Say: one line on your CIP work, one line on your AI solution, then your deployment level, key limit and next step. Stop at five minutes and invite questions.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All specialisations: same for everyone. No new information here.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End: invite questions.</a:t>
            </a:r>
            <a:endParaRPr/>
          </a:p>
        </p:txBody>
      </p:sp>
      <p:sp>
        <p:nvSpPr>
          <p:cNvPr id="360" name="Google Shape;36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82928f0c3_0_95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7" name="Google Shape;367;g3f82928f0c3_0_95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8" name="Google Shape;368;g3f82928f0c3_0_95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g3f82928f0c3_0_687"/>
          <p:cNvGrpSpPr/>
          <p:nvPr/>
        </p:nvGrpSpPr>
        <p:grpSpPr>
          <a:xfrm>
            <a:off x="9790426" y="4546120"/>
            <a:ext cx="2255173" cy="2310006"/>
            <a:chOff x="7343003" y="3409675"/>
            <a:chExt cx="1691422" cy="1732548"/>
          </a:xfrm>
        </p:grpSpPr>
        <p:grpSp>
          <p:nvGrpSpPr>
            <p:cNvPr id="16" name="Google Shape;16;g3f82928f0c3_0_687"/>
            <p:cNvGrpSpPr/>
            <p:nvPr/>
          </p:nvGrpSpPr>
          <p:grpSpPr>
            <a:xfrm>
              <a:off x="7343003" y="4453711"/>
              <a:ext cx="316800" cy="688512"/>
              <a:chOff x="7343003" y="4453711"/>
              <a:chExt cx="316800" cy="688512"/>
            </a:xfrm>
          </p:grpSpPr>
          <p:sp>
            <p:nvSpPr>
              <p:cNvPr id="17" name="Google Shape;17;g3f82928f0c3_0_687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g3f82928f0c3_0_687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" name="Google Shape;19;g3f82928f0c3_0_687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20" name="Google Shape;20;g3f82928f0c3_0_687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g3f82928f0c3_0_687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g3f82928f0c3_0_687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" name="Google Shape;23;g3f82928f0c3_0_687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24" name="Google Shape;24;g3f82928f0c3_0_687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g3f82928f0c3_0_687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g3f82928f0c3_0_687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g3f82928f0c3_0_687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" name="Google Shape;28;g3f82928f0c3_0_687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9" name="Google Shape;29;g3f82928f0c3_0_687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g3f82928f0c3_0_687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g3f82928f0c3_0_687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g3f82928f0c3_0_687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g3f82928f0c3_0_687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4" name="Google Shape;34;g3f82928f0c3_0_687"/>
          <p:cNvGrpSpPr/>
          <p:nvPr/>
        </p:nvGrpSpPr>
        <p:grpSpPr>
          <a:xfrm>
            <a:off x="6724502" y="0"/>
            <a:ext cx="5085303" cy="5118673"/>
            <a:chOff x="5043503" y="0"/>
            <a:chExt cx="3814072" cy="3839102"/>
          </a:xfrm>
        </p:grpSpPr>
        <p:sp>
          <p:nvSpPr>
            <p:cNvPr id="35" name="Google Shape;35;g3f82928f0c3_0_687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g3f82928f0c3_0_687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" name="Google Shape;37;g3f82928f0c3_0_687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8" name="Google Shape;38;g3f82928f0c3_0_687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g3f82928f0c3_0_687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g3f82928f0c3_0_687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41;g3f82928f0c3_0_687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" name="Google Shape;42;g3f82928f0c3_0_687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43" name="Google Shape;43;g3f82928f0c3_0_687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g3f82928f0c3_0_687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" name="Google Shape;45;g3f82928f0c3_0_687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g3f82928f0c3_0_687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g3f82928f0c3_0_687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g3f82928f0c3_0_687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3f82928f0c3_0_687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g3f82928f0c3_0_687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" name="Google Shape;51;g3f82928f0c3_0_687"/>
          <p:cNvSpPr txBox="1"/>
          <p:nvPr>
            <p:ph type="ctrTitle"/>
          </p:nvPr>
        </p:nvSpPr>
        <p:spPr>
          <a:xfrm>
            <a:off x="1098667" y="2151750"/>
            <a:ext cx="5673900" cy="24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g3f82928f0c3_0_687"/>
          <p:cNvSpPr txBox="1"/>
          <p:nvPr>
            <p:ph idx="1" type="subTitle"/>
          </p:nvPr>
        </p:nvSpPr>
        <p:spPr>
          <a:xfrm>
            <a:off x="1098667" y="4795067"/>
            <a:ext cx="5673900" cy="9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g3f82928f0c3_0_687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g3f82928f0c3_0_727"/>
          <p:cNvGrpSpPr/>
          <p:nvPr/>
        </p:nvGrpSpPr>
        <p:grpSpPr>
          <a:xfrm>
            <a:off x="195687" y="4541"/>
            <a:ext cx="1644244" cy="1846001"/>
            <a:chOff x="146769" y="3406"/>
            <a:chExt cx="1233214" cy="1384535"/>
          </a:xfrm>
        </p:grpSpPr>
        <p:grpSp>
          <p:nvGrpSpPr>
            <p:cNvPr id="56" name="Google Shape;56;g3f82928f0c3_0_727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7" name="Google Shape;57;g3f82928f0c3_0_727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g3f82928f0c3_0_727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9" name="Google Shape;59;g3f82928f0c3_0_727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60" name="Google Shape;60;g3f82928f0c3_0_727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g3f82928f0c3_0_727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g3f82928f0c3_0_727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3" name="Google Shape;63;g3f82928f0c3_0_727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64" name="Google Shape;64;g3f82928f0c3_0_727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g3f82928f0c3_0_727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g3f82928f0c3_0_727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g3f82928f0c3_0_727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8" name="Google Shape;68;g3f82928f0c3_0_727"/>
          <p:cNvGrpSpPr/>
          <p:nvPr/>
        </p:nvGrpSpPr>
        <p:grpSpPr>
          <a:xfrm>
            <a:off x="9033219" y="3871914"/>
            <a:ext cx="2914790" cy="2985925"/>
            <a:chOff x="6775084" y="2904008"/>
            <a:chExt cx="2186147" cy="2239500"/>
          </a:xfrm>
        </p:grpSpPr>
        <p:grpSp>
          <p:nvGrpSpPr>
            <p:cNvPr id="69" name="Google Shape;69;g3f82928f0c3_0_727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70" name="Google Shape;70;g3f82928f0c3_0_727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g3f82928f0c3_0_727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2" name="Google Shape;72;g3f82928f0c3_0_727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73" name="Google Shape;73;g3f82928f0c3_0_727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g3f82928f0c3_0_727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g3f82928f0c3_0_727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" name="Google Shape;76;g3f82928f0c3_0_727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7" name="Google Shape;77;g3f82928f0c3_0_727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g3f82928f0c3_0_727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g3f82928f0c3_0_727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g3f82928f0c3_0_727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" name="Google Shape;81;g3f82928f0c3_0_727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82" name="Google Shape;82;g3f82928f0c3_0_727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g3f82928f0c3_0_727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g3f82928f0c3_0_727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g3f82928f0c3_0_727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g3f82928f0c3_0_727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7" name="Google Shape;87;g3f82928f0c3_0_727"/>
          <p:cNvSpPr txBox="1"/>
          <p:nvPr>
            <p:ph type="title"/>
          </p:nvPr>
        </p:nvSpPr>
        <p:spPr>
          <a:xfrm>
            <a:off x="1098667" y="2151767"/>
            <a:ext cx="7810500" cy="24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g3f82928f0c3_0_727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g3f82928f0c3_0_762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91" name="Google Shape;91;g3f82928f0c3_0_762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g3f82928f0c3_0_762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g3f82928f0c3_0_762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4" name="Google Shape;94;g3f82928f0c3_0_762"/>
          <p:cNvSpPr txBox="1"/>
          <p:nvPr>
            <p:ph idx="1" type="body"/>
          </p:nvPr>
        </p:nvSpPr>
        <p:spPr>
          <a:xfrm>
            <a:off x="1738400" y="2653400"/>
            <a:ext cx="9374100" cy="3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95" name="Google Shape;95;g3f82928f0c3_0_762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g3f82928f0c3_0_769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98" name="Google Shape;98;g3f82928f0c3_0_76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3f82928f0c3_0_76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g3f82928f0c3_0_769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1" name="Google Shape;101;g3f82928f0c3_0_769"/>
          <p:cNvSpPr txBox="1"/>
          <p:nvPr>
            <p:ph idx="1" type="body"/>
          </p:nvPr>
        </p:nvSpPr>
        <p:spPr>
          <a:xfrm>
            <a:off x="1738400" y="2653400"/>
            <a:ext cx="4574100" cy="3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02" name="Google Shape;102;g3f82928f0c3_0_769"/>
          <p:cNvSpPr txBox="1"/>
          <p:nvPr>
            <p:ph idx="2" type="body"/>
          </p:nvPr>
        </p:nvSpPr>
        <p:spPr>
          <a:xfrm>
            <a:off x="6538200" y="2653400"/>
            <a:ext cx="4574100" cy="3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03" name="Google Shape;103;g3f82928f0c3_0_769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g3f82928f0c3_0_777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06" name="Google Shape;106;g3f82928f0c3_0_77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f82928f0c3_0_77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" name="Google Shape;108;g3f82928f0c3_0_777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9" name="Google Shape;109;g3f82928f0c3_0_777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g3f82928f0c3_0_783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12" name="Google Shape;112;g3f82928f0c3_0_783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g3f82928f0c3_0_783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g3f82928f0c3_0_783"/>
          <p:cNvSpPr txBox="1"/>
          <p:nvPr>
            <p:ph type="title"/>
          </p:nvPr>
        </p:nvSpPr>
        <p:spPr>
          <a:xfrm>
            <a:off x="1738400" y="798100"/>
            <a:ext cx="4416000" cy="21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5" name="Google Shape;115;g3f82928f0c3_0_783"/>
          <p:cNvSpPr txBox="1"/>
          <p:nvPr>
            <p:ph idx="1" type="body"/>
          </p:nvPr>
        </p:nvSpPr>
        <p:spPr>
          <a:xfrm>
            <a:off x="1738400" y="3079567"/>
            <a:ext cx="4416000" cy="29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16" name="Google Shape;116;g3f82928f0c3_0_783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g3f82928f0c3_0_790"/>
          <p:cNvGrpSpPr/>
          <p:nvPr/>
        </p:nvGrpSpPr>
        <p:grpSpPr>
          <a:xfrm>
            <a:off x="9155392" y="1676"/>
            <a:ext cx="3023096" cy="3468901"/>
            <a:chOff x="6790514" y="1255"/>
            <a:chExt cx="2267380" cy="2601741"/>
          </a:xfrm>
        </p:grpSpPr>
        <p:grpSp>
          <p:nvGrpSpPr>
            <p:cNvPr id="119" name="Google Shape;119;g3f82928f0c3_0_790"/>
            <p:cNvGrpSpPr/>
            <p:nvPr/>
          </p:nvGrpSpPr>
          <p:grpSpPr>
            <a:xfrm>
              <a:off x="7067536" y="1255"/>
              <a:ext cx="1990358" cy="1990303"/>
              <a:chOff x="7067536" y="1255"/>
              <a:chExt cx="1990358" cy="1990303"/>
            </a:xfrm>
          </p:grpSpPr>
          <p:sp>
            <p:nvSpPr>
              <p:cNvPr id="120" name="Google Shape;120;g3f82928f0c3_0_790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g3f82928f0c3_0_790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g3f82928f0c3_0_790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" name="Google Shape;123;g3f82928f0c3_0_790"/>
            <p:cNvGrpSpPr/>
            <p:nvPr/>
          </p:nvGrpSpPr>
          <p:grpSpPr>
            <a:xfrm>
              <a:off x="8207126" y="1807997"/>
              <a:ext cx="795000" cy="795000"/>
              <a:chOff x="8207126" y="1807997"/>
              <a:chExt cx="795000" cy="795000"/>
            </a:xfrm>
          </p:grpSpPr>
          <p:sp>
            <p:nvSpPr>
              <p:cNvPr id="124" name="Google Shape;124;g3f82928f0c3_0_790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g3f82928f0c3_0_790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g3f82928f0c3_0_790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7" name="Google Shape;127;g3f82928f0c3_0_790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8" name="Google Shape;128;g3f82928f0c3_0_790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g3f82928f0c3_0_790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0" name="Google Shape;130;g3f82928f0c3_0_790"/>
          <p:cNvSpPr txBox="1"/>
          <p:nvPr>
            <p:ph type="title"/>
          </p:nvPr>
        </p:nvSpPr>
        <p:spPr>
          <a:xfrm>
            <a:off x="1098667" y="1018133"/>
            <a:ext cx="7810500" cy="47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g3f82928f0c3_0_790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g3f82928f0c3_0_805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34" name="Google Shape;134;g3f82928f0c3_0_80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g3f82928f0c3_0_80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" name="Google Shape;136;g3f82928f0c3_0_805"/>
          <p:cNvSpPr txBox="1"/>
          <p:nvPr>
            <p:ph type="title"/>
          </p:nvPr>
        </p:nvSpPr>
        <p:spPr>
          <a:xfrm>
            <a:off x="1738400" y="798100"/>
            <a:ext cx="4574100" cy="265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7" name="Google Shape;137;g3f82928f0c3_0_805"/>
          <p:cNvSpPr txBox="1"/>
          <p:nvPr>
            <p:ph idx="1" type="subTitle"/>
          </p:nvPr>
        </p:nvSpPr>
        <p:spPr>
          <a:xfrm>
            <a:off x="1738400" y="3657604"/>
            <a:ext cx="4574100" cy="968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8" name="Google Shape;138;g3f82928f0c3_0_805"/>
          <p:cNvSpPr txBox="1"/>
          <p:nvPr>
            <p:ph idx="2" type="body"/>
          </p:nvPr>
        </p:nvSpPr>
        <p:spPr>
          <a:xfrm>
            <a:off x="6538267" y="881333"/>
            <a:ext cx="4574100" cy="5160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39" name="Google Shape;139;g3f82928f0c3_0_805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g3f82928f0c3_0_813"/>
          <p:cNvGrpSpPr/>
          <p:nvPr/>
        </p:nvGrpSpPr>
        <p:grpSpPr>
          <a:xfrm>
            <a:off x="951176" y="5129497"/>
            <a:ext cx="1100560" cy="1100560"/>
            <a:chOff x="348199" y="179450"/>
            <a:chExt cx="1116300" cy="1116300"/>
          </a:xfrm>
        </p:grpSpPr>
        <p:sp>
          <p:nvSpPr>
            <p:cNvPr id="142" name="Google Shape;142;g3f82928f0c3_0_813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g3f82928f0c3_0_813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" name="Google Shape;144;g3f82928f0c3_0_813"/>
          <p:cNvSpPr txBox="1"/>
          <p:nvPr>
            <p:ph idx="1" type="body"/>
          </p:nvPr>
        </p:nvSpPr>
        <p:spPr>
          <a:xfrm>
            <a:off x="1738400" y="5518633"/>
            <a:ext cx="77907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145" name="Google Shape;145;g3f82928f0c3_0_813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g3f82928f0c3_0_819"/>
          <p:cNvGrpSpPr/>
          <p:nvPr/>
        </p:nvGrpSpPr>
        <p:grpSpPr>
          <a:xfrm>
            <a:off x="69" y="5465463"/>
            <a:ext cx="12191743" cy="1392365"/>
            <a:chOff x="52" y="4099200"/>
            <a:chExt cx="9144036" cy="1044300"/>
          </a:xfrm>
        </p:grpSpPr>
        <p:grpSp>
          <p:nvGrpSpPr>
            <p:cNvPr id="148" name="Google Shape;148;g3f82928f0c3_0_819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9" name="Google Shape;149;g3f82928f0c3_0_819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g3f82928f0c3_0_819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g3f82928f0c3_0_819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g3f82928f0c3_0_819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3" name="Google Shape;153;g3f82928f0c3_0_819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54" name="Google Shape;154;g3f82928f0c3_0_819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g3f82928f0c3_0_819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g3f82928f0c3_0_819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g3f82928f0c3_0_819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g3f82928f0c3_0_819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" name="Google Shape;159;g3f82928f0c3_0_819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60" name="Google Shape;160;g3f82928f0c3_0_819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g3f82928f0c3_0_819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g3f82928f0c3_0_819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g3f82928f0c3_0_819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4" name="Google Shape;164;g3f82928f0c3_0_819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5" name="Google Shape;165;g3f82928f0c3_0_819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g3f82928f0c3_0_819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g3f82928f0c3_0_819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8" name="Google Shape;168;g3f82928f0c3_0_819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9" name="Google Shape;169;g3f82928f0c3_0_819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g3f82928f0c3_0_819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g3f82928f0c3_0_819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g3f82928f0c3_0_819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g3f82928f0c3_0_819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4" name="Google Shape;174;g3f82928f0c3_0_819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5" name="Google Shape;175;g3f82928f0c3_0_819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g3f82928f0c3_0_819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g3f82928f0c3_0_819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g3f82928f0c3_0_819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9" name="Google Shape;179;g3f82928f0c3_0_819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80" name="Google Shape;180;g3f82928f0c3_0_819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g3f82928f0c3_0_819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g3f82928f0c3_0_819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3" name="Google Shape;183;g3f82928f0c3_0_819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84" name="Google Shape;184;g3f82928f0c3_0_819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g3f82928f0c3_0_819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g3f82928f0c3_0_819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g3f82928f0c3_0_819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g3f82928f0c3_0_819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9" name="Google Shape;189;g3f82928f0c3_0_819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90" name="Google Shape;190;g3f82928f0c3_0_819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g3f82928f0c3_0_819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g3f82928f0c3_0_819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g3f82928f0c3_0_819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4" name="Google Shape;194;g3f82928f0c3_0_819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5" name="Google Shape;195;g3f82928f0c3_0_819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g3f82928f0c3_0_819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g3f82928f0c3_0_819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g3f82928f0c3_0_819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9" name="Google Shape;199;g3f82928f0c3_0_819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200" name="Google Shape;200;g3f82928f0c3_0_819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g3f82928f0c3_0_819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g3f82928f0c3_0_819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3" name="Google Shape;203;g3f82928f0c3_0_819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204" name="Google Shape;204;g3f82928f0c3_0_819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g3f82928f0c3_0_819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g3f82928f0c3_0_819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g3f82928f0c3_0_819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" name="Google Shape;208;g3f82928f0c3_0_819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9" name="Google Shape;209;g3f82928f0c3_0_819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g3f82928f0c3_0_819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g3f82928f0c3_0_819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g3f82928f0c3_0_819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3" name="Google Shape;213;g3f82928f0c3_0_819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14" name="Google Shape;214;g3f82928f0c3_0_819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g3f82928f0c3_0_819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g3f82928f0c3_0_819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g3f82928f0c3_0_819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g3f82928f0c3_0_819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9" name="Google Shape;219;g3f82928f0c3_0_819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20" name="Google Shape;220;g3f82928f0c3_0_819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g3f82928f0c3_0_819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g3f82928f0c3_0_819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g3f82928f0c3_0_819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4" name="Google Shape;224;g3f82928f0c3_0_819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5" name="Google Shape;225;g3f82928f0c3_0_819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g3f82928f0c3_0_819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g3f82928f0c3_0_819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8" name="Google Shape;228;g3f82928f0c3_0_819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9" name="Google Shape;229;g3f82928f0c3_0_819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g3f82928f0c3_0_819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g3f82928f0c3_0_819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g3f82928f0c3_0_819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3" name="Google Shape;233;g3f82928f0c3_0_819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34" name="Google Shape;234;g3f82928f0c3_0_819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g3f82928f0c3_0_819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g3f82928f0c3_0_819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g3f82928f0c3_0_819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g3f82928f0c3_0_819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9" name="Google Shape;239;g3f82928f0c3_0_819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40" name="Google Shape;240;g3f82928f0c3_0_819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g3f82928f0c3_0_819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g3f82928f0c3_0_819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g3f82928f0c3_0_819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4" name="Google Shape;244;g3f82928f0c3_0_819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5" name="Google Shape;245;g3f82928f0c3_0_819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g3f82928f0c3_0_819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g3f82928f0c3_0_819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8" name="Google Shape;248;g3f82928f0c3_0_819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9" name="Google Shape;249;g3f82928f0c3_0_819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g3f82928f0c3_0_819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g3f82928f0c3_0_819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g3f82928f0c3_0_819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g3f82928f0c3_0_819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" name="Google Shape;254;g3f82928f0c3_0_819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5" name="Google Shape;255;g3f82928f0c3_0_819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g3f82928f0c3_0_819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g3f82928f0c3_0_819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g3f82928f0c3_0_819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9" name="Google Shape;259;g3f82928f0c3_0_819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60" name="Google Shape;260;g3f82928f0c3_0_819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g3f82928f0c3_0_819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g3f82928f0c3_0_819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g3f82928f0c3_0_819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4" name="Google Shape;264;g3f82928f0c3_0_819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5" name="Google Shape;265;g3f82928f0c3_0_819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g3f82928f0c3_0_819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g3f82928f0c3_0_819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8" name="Google Shape;268;g3f82928f0c3_0_819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9" name="Google Shape;269;g3f82928f0c3_0_819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g3f82928f0c3_0_819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g3f82928f0c3_0_819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g3f82928f0c3_0_819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73" name="Google Shape;273;g3f82928f0c3_0_819"/>
          <p:cNvSpPr txBox="1"/>
          <p:nvPr>
            <p:ph hasCustomPrompt="1" type="title"/>
          </p:nvPr>
        </p:nvSpPr>
        <p:spPr>
          <a:xfrm>
            <a:off x="1851500" y="1030300"/>
            <a:ext cx="8489100" cy="24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4" name="Google Shape;274;g3f82928f0c3_0_819"/>
          <p:cNvSpPr txBox="1"/>
          <p:nvPr>
            <p:ph idx="1" type="body"/>
          </p:nvPr>
        </p:nvSpPr>
        <p:spPr>
          <a:xfrm>
            <a:off x="1851500" y="3616400"/>
            <a:ext cx="8489100" cy="14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5" name="Google Shape;275;g3f82928f0c3_0_819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82928f0c3_0_949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82928f0c3_0_68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i="0" sz="37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i="0" sz="37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i="0" sz="37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i="0" sz="37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i="0" sz="37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i="0" sz="37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i="0" sz="37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i="0" sz="37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i="0" sz="37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11" name="Google Shape;11;g3f82928f0c3_0_68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Nunito"/>
              <a:buChar char="●"/>
              <a:defRPr b="0" i="0" sz="1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" name="Google Shape;12;g3f82928f0c3_0_683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"/>
          <p:cNvSpPr/>
          <p:nvPr/>
        </p:nvSpPr>
        <p:spPr>
          <a:xfrm>
            <a:off x="501075" y="1810875"/>
            <a:ext cx="9448800" cy="12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Carlito"/>
              <a:buNone/>
            </a:pPr>
            <a:r>
              <a:rPr b="1" i="0" lang="en-US" sz="4700" u="none" cap="none" strike="noStrike">
                <a:solidFill>
                  <a:srgbClr val="FDB515"/>
                </a:solidFill>
                <a:latin typeface="Oswald"/>
                <a:ea typeface="Oswald"/>
                <a:cs typeface="Oswald"/>
                <a:sym typeface="Oswald"/>
              </a:rPr>
              <a:t>CIP Viva Voce</a:t>
            </a:r>
            <a:br>
              <a:rPr b="1" i="0" lang="en-US" sz="47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b="1" i="0" lang="en-US" sz="47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Student Presentation</a:t>
            </a:r>
            <a:endParaRPr b="0" i="0" sz="700" u="none" cap="none" strike="noStrike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84" name="Google Shape;284;p1"/>
          <p:cNvSpPr/>
          <p:nvPr/>
        </p:nvSpPr>
        <p:spPr>
          <a:xfrm>
            <a:off x="501075" y="3163050"/>
            <a:ext cx="72561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Name: </a:t>
            </a:r>
            <a:r>
              <a:rPr lang="en-US" sz="1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Anurag Kumar</a:t>
            </a:r>
            <a:r>
              <a:rPr b="0" i="0" lang="en-US" sz="16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|  Roll No.: 25PGDMFM0</a:t>
            </a:r>
            <a:r>
              <a:rPr lang="en-US" sz="1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b="0" i="0" lang="en-US" sz="16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br>
              <a:rPr b="0" i="0" lang="en-US" sz="16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0" i="0" lang="en-US" sz="16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Programme / specialization: PGDM FM</a:t>
            </a:r>
            <a:br>
              <a:rPr b="0" i="0" lang="en-US" sz="16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0" i="0" lang="en-US" sz="16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Internship organization: HDFC Life</a:t>
            </a:r>
            <a:endParaRPr b="0" i="0" sz="16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5" name="Google Shape;285;p1"/>
          <p:cNvSpPr/>
          <p:nvPr/>
        </p:nvSpPr>
        <p:spPr>
          <a:xfrm>
            <a:off x="501075" y="4751925"/>
            <a:ext cx="10477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  <a:t>PART 1 / CIP IN-ORGANIZATION PROJECT     PART 2 / AI IN CIP PROJECT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"/>
          <p:cNvSpPr/>
          <p:nvPr/>
        </p:nvSpPr>
        <p:spPr>
          <a:xfrm>
            <a:off x="433925" y="2774250"/>
            <a:ext cx="5533200" cy="34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2400"/>
              <a:buFont typeface="Carlito"/>
              <a:buNone/>
            </a:pPr>
            <a:r>
              <a:rPr b="1" i="0" lang="en-US" sz="2400" u="none" cap="none" strike="noStrike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Student introduction</a:t>
            </a:r>
            <a:endParaRPr b="0" i="0" sz="1400" u="none" cap="none" strike="noStrike"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rlito"/>
              <a:buNone/>
            </a:pPr>
            <a:r>
              <a:rPr lang="en-US" sz="16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Anurag Kumar</a:t>
            </a:r>
            <a:endParaRPr b="0" i="0" sz="1600" u="none" cap="none" strike="noStrike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rlito"/>
              <a:buNone/>
            </a:pPr>
            <a:r>
              <a:rPr b="0" i="0" lang="en-US" sz="1600" u="none" cap="none" strike="noStrike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25PGDMFM0</a:t>
            </a:r>
            <a:r>
              <a:rPr lang="en-US" sz="16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b="0" i="0" lang="en-US" sz="1600" u="none" cap="none" strike="noStrike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2 </a:t>
            </a:r>
            <a:endParaRPr b="0" i="0" sz="1600" u="none" cap="none" strike="noStrike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rlito"/>
              <a:buNone/>
            </a:pPr>
            <a:r>
              <a:rPr lang="en-US" sz="16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PGDM FM</a:t>
            </a:r>
            <a:r>
              <a:rPr b="0" i="0" lang="en-US" sz="1600" u="none" cap="none" strike="noStrike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i="0" sz="1600" u="none" cap="none" strike="noStrike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rlito"/>
              <a:buNone/>
            </a:pPr>
            <a:r>
              <a:rPr b="0" i="0" lang="en-US" sz="1600" u="none" cap="none" strike="noStrike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2025-27</a:t>
            </a:r>
            <a:endParaRPr b="0" i="0" sz="1600" u="none" cap="none" strike="noStrike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85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t/>
            </a:r>
            <a:endParaRPr b="0" i="0" sz="1600" u="none" cap="none" strike="noStrike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2" name="Google Shape;292;p2"/>
          <p:cNvSpPr/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rlito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"/>
          <p:cNvSpPr/>
          <p:nvPr/>
        </p:nvSpPr>
        <p:spPr>
          <a:xfrm>
            <a:off x="400050" y="1138593"/>
            <a:ext cx="11404500" cy="10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75"/>
              <a:buFont typeface="Carlito"/>
              <a:buNone/>
            </a:pPr>
            <a:r>
              <a:rPr b="1" i="0" lang="en-US" sz="3675" u="none" cap="none" strike="noStrike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Equity Research Intern at HDFC Life </a:t>
            </a:r>
            <a:endParaRPr b="0" i="0" sz="1400" u="none" cap="none" strike="noStrike"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4" name="Google Shape;294;p2"/>
          <p:cNvSpPr/>
          <p:nvPr/>
        </p:nvSpPr>
        <p:spPr>
          <a:xfrm>
            <a:off x="5756718" y="2774251"/>
            <a:ext cx="5537100" cy="38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2400"/>
              <a:buFont typeface="Carlito"/>
              <a:buNone/>
            </a:pPr>
            <a:r>
              <a:rPr b="1" i="0" lang="en-US" sz="2400" u="none" cap="none" strike="noStrike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The internship &amp; organisation</a:t>
            </a:r>
            <a:endParaRPr b="0" i="0" sz="1400" u="none" cap="none" strike="noStrike"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85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16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HDFC Life Insurance Co. Ltd., one of India's leading private life insurers; worked as an Equity Research and Wealth Management Intern, evaluating insurers as an investor while sitting inside one · </a:t>
            </a:r>
            <a:endParaRPr sz="1600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85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16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14.04.2026 to 04.07.2026 (12-week internship); scope covered equity research on 5 NSE-listed insurers plus an AI-assisted banking-stock recommendation tool and a proposed underwriting AI workflow </a:t>
            </a:r>
            <a:endParaRPr b="0" i="0" sz="1600" u="none" cap="none" strike="noStrike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5" name="Google Shape;295;p2"/>
          <p:cNvSpPr/>
          <p:nvPr/>
        </p:nvSpPr>
        <p:spPr>
          <a:xfrm>
            <a:off x="400050" y="1686025"/>
            <a:ext cx="111444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6" name="Google Shape;296;p2"/>
          <p:cNvSpPr/>
          <p:nvPr/>
        </p:nvSpPr>
        <p:spPr>
          <a:xfrm>
            <a:off x="400050" y="2195700"/>
            <a:ext cx="819300" cy="47700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"/>
          <p:cNvSpPr/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rlito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"/>
          <p:cNvSpPr/>
          <p:nvPr/>
        </p:nvSpPr>
        <p:spPr>
          <a:xfrm>
            <a:off x="427300" y="1216397"/>
            <a:ext cx="114045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75"/>
              <a:buFont typeface="Carlito"/>
              <a:buNone/>
            </a:pPr>
            <a:r>
              <a:rPr b="1" lang="en-US" sz="3675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The Equity Research Mandate </a:t>
            </a:r>
            <a:r>
              <a:rPr b="1" i="0" lang="en-US" sz="3675" u="none" cap="none" strike="noStrike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i="0" sz="1400" u="none" cap="none" strike="noStrike"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4" name="Google Shape;304;p3"/>
          <p:cNvSpPr/>
          <p:nvPr/>
        </p:nvSpPr>
        <p:spPr>
          <a:xfrm>
            <a:off x="393675" y="2392200"/>
            <a:ext cx="3325200" cy="36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Carlito"/>
              <a:buNone/>
            </a:pPr>
            <a:r>
              <a:rPr b="1" i="0" lang="en-US" sz="2325" u="none" cap="none" strike="noStrike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01  Core responsibility</a:t>
            </a:r>
            <a:endParaRPr b="0" i="0" sz="1400" u="none" cap="none" strike="noStrike"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70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21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F</a:t>
            </a:r>
            <a:r>
              <a:rPr lang="en-US" sz="21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undamental</a:t>
            </a:r>
            <a:r>
              <a:rPr lang="en-US" sz="21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, technical, and valuation research on NSE-listed companies (Private Bank Sector)</a:t>
            </a:r>
            <a:endParaRPr b="0" i="0" sz="1400" u="none" cap="none" strike="noStrike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5" name="Google Shape;305;p3"/>
          <p:cNvSpPr/>
          <p:nvPr/>
        </p:nvSpPr>
        <p:spPr>
          <a:xfrm>
            <a:off x="8135725" y="2392275"/>
            <a:ext cx="3944700" cy="36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Carlito"/>
              <a:buNone/>
            </a:pPr>
            <a:r>
              <a:rPr b="1" i="0" lang="en-US" sz="2325" u="none" cap="none" strike="noStrike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03  Stakeholder responsibility</a:t>
            </a:r>
            <a:endParaRPr b="0" i="0" sz="1400" u="none" cap="none" strike="noStrike"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70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21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Reported to Corporate Mentor Mr. Saurav Srivastav (Senior Manager); guided by Faculty Mentor Dr. Sudhi Sharma </a:t>
            </a:r>
            <a:endParaRPr b="0" i="0" sz="1400" u="none" cap="none" strike="noStrike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6" name="Google Shape;306;p3"/>
          <p:cNvSpPr/>
          <p:nvPr/>
        </p:nvSpPr>
        <p:spPr>
          <a:xfrm>
            <a:off x="4104800" y="2392275"/>
            <a:ext cx="3944700" cy="36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Carlito"/>
              <a:buNone/>
            </a:pPr>
            <a:r>
              <a:rPr b="1" i="0" lang="en-US" sz="2325" u="none" cap="none" strike="noStrike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02  Project responsibility</a:t>
            </a:r>
            <a:endParaRPr b="0" i="0" sz="1400" u="none" cap="none" strike="noStrike"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70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21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Building a five-ratio fundamental scorecard, a back-tested technical indicator hierarchy, and an AI-assisted recommendation tool for banking stocks and a proposed AI-assisted underwriting triage workflow for term insurance </a:t>
            </a:r>
            <a:endParaRPr b="0" i="0" sz="1400" u="none" cap="none" strike="noStrike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7" name="Google Shape;307;p3"/>
          <p:cNvSpPr/>
          <p:nvPr/>
        </p:nvSpPr>
        <p:spPr>
          <a:xfrm>
            <a:off x="427300" y="2392188"/>
            <a:ext cx="111444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5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8" name="Google Shape;308;p3"/>
          <p:cNvSpPr/>
          <p:nvPr/>
        </p:nvSpPr>
        <p:spPr>
          <a:xfrm>
            <a:off x="400050" y="2195700"/>
            <a:ext cx="819300" cy="47700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"/>
          <p:cNvSpPr/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rlito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"/>
          <p:cNvSpPr/>
          <p:nvPr/>
        </p:nvSpPr>
        <p:spPr>
          <a:xfrm>
            <a:off x="393743" y="1075473"/>
            <a:ext cx="114045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75"/>
              <a:buFont typeface="Carlito"/>
              <a:buNone/>
            </a:pPr>
            <a:r>
              <a:rPr b="1" i="0" lang="en-US" sz="3675" u="none" cap="none" strike="noStrike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Building the FA+TA Decision Engine </a:t>
            </a:r>
            <a:endParaRPr b="0" i="0" sz="1400" u="none" cap="none" strike="noStrike"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6" name="Google Shape;316;p4"/>
          <p:cNvSpPr/>
          <p:nvPr/>
        </p:nvSpPr>
        <p:spPr>
          <a:xfrm>
            <a:off x="393750" y="2218250"/>
            <a:ext cx="2973000" cy="3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Carlito"/>
              <a:buNone/>
            </a:pPr>
            <a:r>
              <a:rPr b="1" i="0" lang="en-US" sz="2325" u="none" cap="none" strike="noStrike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01  Approach</a:t>
            </a:r>
            <a:endParaRPr b="0" i="0" sz="1400" u="none" cap="none" strike="noStrike"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70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16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Built a sector-specific fundamental scorecard, then empirically back-tested ten technical indicators rather than assuming they all carry equal weight, and combined both into an integrated stock-selection filter </a:t>
            </a:r>
            <a:endParaRPr b="0" i="0" sz="1600" u="none" cap="none" strike="noStrike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7" name="Google Shape;317;p4"/>
          <p:cNvSpPr/>
          <p:nvPr/>
        </p:nvSpPr>
        <p:spPr>
          <a:xfrm>
            <a:off x="8229675" y="2218250"/>
            <a:ext cx="3308400" cy="39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Carlito"/>
              <a:buNone/>
            </a:pPr>
            <a:r>
              <a:rPr b="1" i="0" lang="en-US" sz="2325" u="none" cap="none" strike="noStrike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03  Challenge handled</a:t>
            </a:r>
            <a:endParaRPr b="0" i="0" sz="1400" u="none" cap="none" strike="noStrike"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70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160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Found that widely-used indicators like RSI (46.51%) and VWAP (44.18%) fall below a 50% win probability and had to be excluded as standalone triggers, contradicting conventional practice </a:t>
            </a:r>
            <a:endParaRPr b="0" i="0" sz="1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8" name="Google Shape;318;p4"/>
          <p:cNvSpPr/>
          <p:nvPr/>
        </p:nvSpPr>
        <p:spPr>
          <a:xfrm>
            <a:off x="3772625" y="2218350"/>
            <a:ext cx="4118400" cy="25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Carlito"/>
              <a:buNone/>
            </a:pPr>
            <a:r>
              <a:rPr b="1" i="0" lang="en-US" sz="2325" u="none" cap="none" strike="noStrike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02  What you did</a:t>
            </a:r>
            <a:endParaRPr b="0" i="0" sz="1400" u="none" cap="none" strike="noStrike"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70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160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Scored 5 insurers on ROE, Combined Ratio, Persistency, Solvency, and Embedded Value Growth; back-tested 10 technical indicators for win probability; built a tool to automate Buy/Hold/Avoid calls across 11 banking stocks </a:t>
            </a:r>
            <a:endParaRPr b="0" i="0" sz="1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9" name="Google Shape;319;p4"/>
          <p:cNvSpPr/>
          <p:nvPr/>
        </p:nvSpPr>
        <p:spPr>
          <a:xfrm>
            <a:off x="393743" y="1656450"/>
            <a:ext cx="111444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0" name="Google Shape;320;p4"/>
          <p:cNvSpPr/>
          <p:nvPr/>
        </p:nvSpPr>
        <p:spPr>
          <a:xfrm>
            <a:off x="393743" y="1751375"/>
            <a:ext cx="819300" cy="47700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"/>
          <p:cNvSpPr/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rlito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5"/>
          <p:cNvSpPr/>
          <p:nvPr/>
        </p:nvSpPr>
        <p:spPr>
          <a:xfrm>
            <a:off x="393750" y="1302572"/>
            <a:ext cx="114045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75"/>
              <a:buFont typeface="Carlito"/>
              <a:buNone/>
            </a:pPr>
            <a:r>
              <a:rPr b="1" i="0" lang="en-US" sz="3675" u="none" cap="none" strike="noStrike">
                <a:solidFill>
                  <a:srgbClr val="1E4A84"/>
                </a:solidFill>
                <a:latin typeface="Carlito"/>
                <a:ea typeface="Carlito"/>
                <a:cs typeface="Carlito"/>
                <a:sym typeface="Carlito"/>
              </a:rPr>
              <a:t>The Result</a:t>
            </a:r>
            <a:endParaRPr b="0" i="0" sz="1400" u="none" cap="none" strike="noStrike">
              <a:solidFill>
                <a:srgbClr val="1E4A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5"/>
          <p:cNvSpPr/>
          <p:nvPr/>
        </p:nvSpPr>
        <p:spPr>
          <a:xfrm>
            <a:off x="393675" y="2858225"/>
            <a:ext cx="3468300" cy="31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Carlito"/>
              <a:buNone/>
            </a:pPr>
            <a:r>
              <a:rPr b="1" i="0" lang="en-US" sz="2325" u="none" cap="none" strike="noStrike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01  Deliverable</a:t>
            </a:r>
            <a:endParaRPr b="0" i="0" sz="1400" u="none" cap="none" strike="noStrike"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70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16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Fundamental scorecard, back-tested indicator hierarchy, integrated stock-selection framework, 6 live Smallcase portfolios, and the AI-assisted recommendation tool (ai_research.py, AI_Recommendations_Output.xlsx) </a:t>
            </a:r>
            <a:endParaRPr b="0" i="0" sz="1600" u="none" cap="none" strike="noStrike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9" name="Google Shape;329;p5"/>
          <p:cNvSpPr/>
          <p:nvPr/>
        </p:nvSpPr>
        <p:spPr>
          <a:xfrm>
            <a:off x="7932600" y="2858175"/>
            <a:ext cx="3468300" cy="31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Carlito"/>
              <a:buNone/>
            </a:pPr>
            <a:r>
              <a:rPr b="1" i="0" lang="en-US" sz="2325" u="none" cap="none" strike="noStrike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03  Value to the organisation</a:t>
            </a:r>
            <a:endParaRPr b="0" i="0" sz="1400" u="none" cap="none" strike="noStrike"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70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16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Provides an evidence-based indicator hierarchy and a working AI tool that surfaces analytically valuable divergences for analyst review; the underwriting proposal offers a documented starting point for reducing manual review time, pending further validation </a:t>
            </a:r>
            <a:endParaRPr b="0" i="0" sz="1600" u="none" cap="none" strike="noStrike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0" name="Google Shape;330;p5"/>
          <p:cNvSpPr/>
          <p:nvPr/>
        </p:nvSpPr>
        <p:spPr>
          <a:xfrm>
            <a:off x="3862075" y="2858175"/>
            <a:ext cx="3804000" cy="31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Carlito"/>
              <a:buNone/>
            </a:pPr>
            <a:r>
              <a:rPr b="1" i="0" lang="en-US" sz="2325" u="none" cap="none" strike="noStrike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02  Measured outcome</a:t>
            </a:r>
            <a:endParaRPr b="0" i="0" sz="1400" u="none" cap="none" strike="noStrike"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70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16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Moving Average indicator showed 68.43% win probability (highest); AI tool achieved 8 of 11 (72.7%) alignment with manually derived analyst views across 11 banking stocks </a:t>
            </a:r>
            <a:endParaRPr b="0" i="0" sz="900" u="none" cap="none" strike="noStrike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1" name="Google Shape;331;p5"/>
          <p:cNvSpPr/>
          <p:nvPr/>
        </p:nvSpPr>
        <p:spPr>
          <a:xfrm>
            <a:off x="393750" y="1864475"/>
            <a:ext cx="111444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5"/>
          <p:cNvSpPr/>
          <p:nvPr/>
        </p:nvSpPr>
        <p:spPr>
          <a:xfrm>
            <a:off x="393675" y="1966000"/>
            <a:ext cx="819300" cy="47700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"/>
          <p:cNvSpPr/>
          <p:nvPr/>
        </p:nvSpPr>
        <p:spPr>
          <a:xfrm>
            <a:off x="427250" y="2644025"/>
            <a:ext cx="5533200" cy="3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2400"/>
              <a:buFont typeface="Carlito"/>
              <a:buNone/>
            </a:pPr>
            <a:r>
              <a:rPr b="1" i="0" lang="en-US" sz="2400" u="none" cap="none" strike="noStrike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Strengths</a:t>
            </a:r>
            <a:endParaRPr b="0" i="0" sz="1400" u="none" cap="none" strike="noStrike"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85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21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Testing assumptions empirically rather than accepting convention; translating a back-tested framework into a structured AI workflow · Evidenced by discovering RSI/VWAP's sub-50% win probability </a:t>
            </a:r>
            <a:endParaRPr b="0" i="0" sz="1400" u="none" cap="none" strike="noStrike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9" name="Google Shape;339;p6"/>
          <p:cNvSpPr/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rlito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6"/>
          <p:cNvSpPr/>
          <p:nvPr/>
        </p:nvSpPr>
        <p:spPr>
          <a:xfrm>
            <a:off x="393750" y="1015097"/>
            <a:ext cx="114045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75"/>
              <a:buFont typeface="Carlito"/>
              <a:buNone/>
            </a:pPr>
            <a:r>
              <a:rPr b="1" lang="en-US" sz="3675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Evidence-Based Rigor, Real Limits </a:t>
            </a:r>
            <a:endParaRPr b="0" i="0" sz="1400" u="none" cap="none" strike="noStrike"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1" name="Google Shape;341;p6"/>
          <p:cNvSpPr/>
          <p:nvPr/>
        </p:nvSpPr>
        <p:spPr>
          <a:xfrm>
            <a:off x="6110169" y="2644026"/>
            <a:ext cx="5537100" cy="38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2400"/>
              <a:buFont typeface="Carlito"/>
              <a:buNone/>
            </a:pPr>
            <a:r>
              <a:rPr b="1" i="0" lang="en-US" sz="2400" u="none" cap="none" strike="noStrike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Growth</a:t>
            </a:r>
            <a:endParaRPr b="1" sz="2400"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85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21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Got to learn AI tools in better way, understanding of different tools for better result and problem solving in effective and </a:t>
            </a:r>
            <a:r>
              <a:rPr lang="en-US" sz="21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efficient</a:t>
            </a:r>
            <a:r>
              <a:rPr lang="en-US" sz="21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 way.</a:t>
            </a:r>
            <a:endParaRPr sz="2100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85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21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Better understanding of </a:t>
            </a:r>
            <a:r>
              <a:rPr lang="en-US" sz="21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stock</a:t>
            </a:r>
            <a:r>
              <a:rPr lang="en-US" sz="21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market</a:t>
            </a:r>
            <a:r>
              <a:rPr lang="en-US" sz="21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 (how to filter good stock, understanding of market </a:t>
            </a:r>
            <a:r>
              <a:rPr lang="en-US" sz="21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trends), Different ways to invest in market and fund allocation(equity, bonds , mutual funds,etc.)</a:t>
            </a:r>
            <a:endParaRPr sz="2100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393750" y="1622925"/>
            <a:ext cx="111444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3" name="Google Shape;343;p6"/>
          <p:cNvSpPr/>
          <p:nvPr/>
        </p:nvSpPr>
        <p:spPr>
          <a:xfrm>
            <a:off x="578175" y="1767375"/>
            <a:ext cx="819300" cy="47700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7"/>
          <p:cNvSpPr/>
          <p:nvPr/>
        </p:nvSpPr>
        <p:spPr>
          <a:xfrm>
            <a:off x="11279219" y="6278594"/>
            <a:ext cx="519113" cy="2412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rlito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7"/>
          <p:cNvSpPr/>
          <p:nvPr/>
        </p:nvSpPr>
        <p:spPr>
          <a:xfrm>
            <a:off x="393750" y="1035196"/>
            <a:ext cx="11404500" cy="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75"/>
              <a:buFont typeface="Carlito"/>
              <a:buNone/>
            </a:pPr>
            <a:r>
              <a:rPr b="1" lang="en-US" sz="3675">
                <a:solidFill>
                  <a:srgbClr val="1E4A84"/>
                </a:solidFill>
                <a:latin typeface="Carlito"/>
                <a:ea typeface="Carlito"/>
                <a:cs typeface="Carlito"/>
                <a:sym typeface="Carlito"/>
              </a:rPr>
              <a:t>AI-Assisted Equity Research Recommendation Tool </a:t>
            </a:r>
            <a:endParaRPr b="0" i="0" sz="1400" u="none" cap="none" strike="noStrike">
              <a:solidFill>
                <a:srgbClr val="1E4A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7"/>
          <p:cNvSpPr/>
          <p:nvPr/>
        </p:nvSpPr>
        <p:spPr>
          <a:xfrm>
            <a:off x="395950" y="2423975"/>
            <a:ext cx="4652700" cy="19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Carlito"/>
              <a:buNone/>
            </a:pPr>
            <a:r>
              <a:rPr b="1" i="0" lang="en-US" sz="2325" u="none" cap="none" strike="noStrike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01  Input</a:t>
            </a:r>
            <a:endParaRPr b="0" i="0" sz="1400" u="none" cap="none" strike="noStrike"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5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16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Seven fundamental ratios plus one technical signal per bank, sourced from Screener.in, NSE/BSE filings, and TradingView (FY22–24) </a:t>
            </a:r>
            <a:endParaRPr b="0" i="0" sz="1600" u="none" cap="none" strike="noStrike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2" name="Google Shape;352;p7"/>
          <p:cNvSpPr/>
          <p:nvPr/>
        </p:nvSpPr>
        <p:spPr>
          <a:xfrm>
            <a:off x="5585000" y="2423850"/>
            <a:ext cx="6210900" cy="19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Carlito"/>
              <a:buNone/>
            </a:pPr>
            <a:r>
              <a:rPr b="1" i="0" lang="en-US" sz="2325" u="none" cap="none" strike="noStrike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02  AI processing</a:t>
            </a:r>
            <a:endParaRPr b="0" i="0" sz="1400" u="none" cap="none" strike="noStrike"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5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b="0" i="0" lang="en-US" sz="1600" u="none" cap="none" strike="noStrike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Groq</a:t>
            </a:r>
            <a:r>
              <a:rPr b="0" i="0" lang="en-US" sz="1600" u="none" cap="none" strike="noStrike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 API (llama-3.3-70b-versatile) used only to fuse already-computed, structured deterministic outputs </a:t>
            </a:r>
            <a:endParaRPr b="0" i="0" sz="1600" u="none" cap="none" strike="noStrike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3" name="Google Shape;353;p7"/>
          <p:cNvSpPr/>
          <p:nvPr/>
        </p:nvSpPr>
        <p:spPr>
          <a:xfrm>
            <a:off x="402275" y="3964000"/>
            <a:ext cx="4718700" cy="20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Carlito"/>
              <a:buNone/>
            </a:pPr>
            <a:r>
              <a:rPr b="1" i="0" lang="en-US" sz="2325" u="none" cap="none" strike="noStrike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03  Output</a:t>
            </a:r>
            <a:endParaRPr b="1" i="0" sz="2325" u="none" cap="none" strike="noStrike"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Carlito"/>
              <a:buNone/>
            </a:pPr>
            <a:r>
              <a:rPr lang="en-US" sz="16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Structured Buy/Hold/Avoid call with a 150–200 word reasoning note and a signal-tension note; achieved 72.7% alignment (8/11) with manual analyst views </a:t>
            </a:r>
            <a:endParaRPr b="0" i="0" sz="16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Carlito"/>
              <a:buNone/>
            </a:pPr>
            <a:r>
              <a:t/>
            </a:r>
            <a:endParaRPr b="1" i="0" sz="2325" u="none" cap="none" strike="noStrike"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Carlito"/>
              <a:buNone/>
            </a:pPr>
            <a:r>
              <a:t/>
            </a:r>
            <a:endParaRPr b="1" i="0" sz="2325" u="none" cap="none" strike="noStrike"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5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t/>
            </a:r>
            <a:endParaRPr b="0" i="0" sz="1600" u="none" cap="none" strike="noStrike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4" name="Google Shape;354;p7"/>
          <p:cNvSpPr/>
          <p:nvPr/>
        </p:nvSpPr>
        <p:spPr>
          <a:xfrm>
            <a:off x="5591375" y="3964000"/>
            <a:ext cx="6210900" cy="20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Carlito"/>
              <a:buNone/>
            </a:pPr>
            <a:r>
              <a:rPr b="1" i="0" lang="en-US" sz="2325" u="none" cap="none" strike="noStrike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04  Human decision &amp; limits</a:t>
            </a:r>
            <a:endParaRPr b="0" i="0" sz="1400" u="none" cap="none" strike="noStrike"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5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16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The tool automates the repetitive first pass — applying the back-tested indicator weighting consistently across all 11 banks and flagging exactly where its view diverges from a human analyst's, so judgement time goes to the disagreements that matter instead of re-checking everything. Built and self-tested on the Groq API; not yet demonstrated to any supervisor. Limited by single-provider dependency, 8 structured inputs only </a:t>
            </a:r>
            <a:endParaRPr b="0" i="0" sz="1600" u="none" cap="none" strike="noStrike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5" name="Google Shape;355;p7"/>
          <p:cNvSpPr/>
          <p:nvPr/>
        </p:nvSpPr>
        <p:spPr>
          <a:xfrm>
            <a:off x="393750" y="1502100"/>
            <a:ext cx="111444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lang="en-US"/>
              <a:t>Gap:</a:t>
            </a:r>
            <a:r>
              <a:rPr lang="en-US"/>
              <a:t> Reviewing 11 NSE-listed banking stocks individually on fundamentals and technicals was repetitive and risked inconsistency across analysts and iterations </a:t>
            </a:r>
            <a:endParaRPr b="0" i="0" sz="17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7"/>
          <p:cNvSpPr/>
          <p:nvPr/>
        </p:nvSpPr>
        <p:spPr>
          <a:xfrm>
            <a:off x="402275" y="1953088"/>
            <a:ext cx="819300" cy="47700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8"/>
          <p:cNvSpPr/>
          <p:nvPr/>
        </p:nvSpPr>
        <p:spPr>
          <a:xfrm>
            <a:off x="447375" y="1025600"/>
            <a:ext cx="10400700" cy="12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Carlito"/>
              <a:buNone/>
            </a:pPr>
            <a:r>
              <a:rPr b="1" i="0" lang="en-US" sz="5100" u="none" cap="none" strike="noStrike">
                <a:solidFill>
                  <a:srgbClr val="1E4A84"/>
                </a:solidFill>
                <a:latin typeface="Oswald"/>
                <a:ea typeface="Oswald"/>
                <a:cs typeface="Oswald"/>
                <a:sym typeface="Oswald"/>
              </a:rPr>
              <a:t>My CIP contribution,</a:t>
            </a:r>
            <a:br>
              <a:rPr b="1" i="0" lang="en-US" sz="5100" u="none" cap="none" strike="noStrike">
                <a:solidFill>
                  <a:srgbClr val="1E4A84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b="1" i="0" lang="en-US" sz="5100" u="none" cap="none" strike="noStrike">
                <a:solidFill>
                  <a:srgbClr val="1E4A84"/>
                </a:solidFill>
                <a:latin typeface="Oswald"/>
                <a:ea typeface="Oswald"/>
                <a:cs typeface="Oswald"/>
                <a:sym typeface="Oswald"/>
              </a:rPr>
              <a:t>in two connected parts</a:t>
            </a:r>
            <a:endParaRPr b="0" i="0" sz="1400" u="none" cap="none" strike="noStrike">
              <a:solidFill>
                <a:srgbClr val="1E4A84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447375" y="2780525"/>
            <a:ext cx="10618200" cy="1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5"/>
              <a:buFont typeface="Carlito"/>
              <a:buNone/>
            </a:pPr>
            <a:r>
              <a:rPr b="0" i="0" lang="en-US" sz="1800" u="none" cap="none" strike="noStrike">
                <a:solidFill>
                  <a:srgbClr val="1E4A84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Part 1: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A</a:t>
            </a:r>
            <a:r>
              <a:rPr lang="en-US" sz="1800">
                <a:latin typeface="DM Sans SemiBold"/>
                <a:ea typeface="DM Sans SemiBold"/>
                <a:cs typeface="DM Sans SemiBold"/>
                <a:sym typeface="DM Sans SemiBold"/>
              </a:rPr>
              <a:t>s an Equity Research Intern at HDFC Life, I built a sector-specific fundamental and technical framework for 15 NSE-listed insurers and identified </a:t>
            </a:r>
            <a:endParaRPr sz="1800"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5"/>
              <a:buFont typeface="Carlito"/>
              <a:buNone/>
            </a:pPr>
            <a:r>
              <a:t/>
            </a:r>
            <a:endParaRPr sz="1800"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75"/>
              <a:buFont typeface="Carlito"/>
              <a:buNone/>
            </a:pPr>
            <a:r>
              <a:rPr b="0" i="0" lang="en-US" sz="1800" u="none" cap="none" strike="noStrike">
                <a:solidFill>
                  <a:srgbClr val="1E4A84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Part 2:</a:t>
            </a:r>
            <a:r>
              <a:rPr b="0" i="0" lang="en-US" sz="1800" u="none" cap="none" strike="noStrike">
                <a:solidFill>
                  <a:srgbClr val="000000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 </a:t>
            </a:r>
            <a:r>
              <a:rPr lang="en-US" sz="1800">
                <a:latin typeface="DM Sans SemiBold"/>
                <a:ea typeface="DM Sans SemiBold"/>
                <a:cs typeface="DM Sans SemiBold"/>
                <a:sym typeface="DM Sans SemiBold"/>
              </a:rPr>
              <a:t>I identified the inconsistency risk in manually reviewing 11 banking stocks and built a Groq-powered AI tool applying a back-tested indicator hierarchy, achieving 72.7% alignment with analyst views.I also proposed a design-stage AI underwriting triage workflow for term insurance </a:t>
            </a:r>
            <a:endParaRPr b="0" i="0" sz="1800" u="none" cap="none" strike="noStrike">
              <a:solidFill>
                <a:srgbClr val="000000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4B5563"/>
              </a:buClr>
              <a:buSzPts val="2175"/>
              <a:buFont typeface="Carlito"/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Deployment level : Working proof of concept, self-tested; </a:t>
            </a:r>
            <a:endParaRPr b="0" i="0" sz="1800" u="none" cap="none" strike="noStrike">
              <a:solidFill>
                <a:srgbClr val="434343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447375" y="1405525"/>
            <a:ext cx="39009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725"/>
              <a:buFont typeface="Carlito"/>
              <a:buNone/>
            </a:pPr>
            <a:r>
              <a:t/>
            </a:r>
            <a:endParaRPr b="0" i="0" sz="1400" u="none" cap="none" strike="noStrike">
              <a:solidFill>
                <a:srgbClr val="1E4A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g3f82928f0c3_0_954"/>
          <p:cNvGrpSpPr/>
          <p:nvPr/>
        </p:nvGrpSpPr>
        <p:grpSpPr>
          <a:xfrm>
            <a:off x="2381025" y="1917400"/>
            <a:ext cx="7054200" cy="4070223"/>
            <a:chOff x="2474400" y="2011350"/>
            <a:chExt cx="7054200" cy="4070223"/>
          </a:xfrm>
        </p:grpSpPr>
        <p:sp>
          <p:nvSpPr>
            <p:cNvPr id="371" name="Google Shape;371;g3f82928f0c3_0_954"/>
            <p:cNvSpPr txBox="1"/>
            <p:nvPr/>
          </p:nvSpPr>
          <p:spPr>
            <a:xfrm>
              <a:off x="3969900" y="2011350"/>
              <a:ext cx="4063200" cy="120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9975" lIns="129975" spcFirstLastPara="1" rIns="129975" wrap="square" tIns="1299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82"/>
                <a:buFont typeface="Arial"/>
                <a:buNone/>
              </a:pPr>
              <a:r>
                <a:rPr b="0" i="0" lang="en-US" sz="6682" u="none" cap="none" strike="noStrike">
                  <a:solidFill>
                    <a:schemeClr val="lt1"/>
                  </a:solidFill>
                  <a:latin typeface="Oswald Medium"/>
                  <a:ea typeface="Oswald Medium"/>
                  <a:cs typeface="Oswald Medium"/>
                  <a:sym typeface="Oswald Medium"/>
                </a:rPr>
                <a:t>Thank You</a:t>
              </a:r>
              <a:endParaRPr b="0" i="0" sz="6682" u="none" cap="none" strike="noStrike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endParaRPr>
            </a:p>
          </p:txBody>
        </p:sp>
        <p:sp>
          <p:nvSpPr>
            <p:cNvPr id="372" name="Google Shape;372;g3f82928f0c3_0_954"/>
            <p:cNvSpPr txBox="1"/>
            <p:nvPr/>
          </p:nvSpPr>
          <p:spPr>
            <a:xfrm>
              <a:off x="2941500" y="4250621"/>
              <a:ext cx="6120000" cy="6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9975" lIns="129975" spcFirstLastPara="1" rIns="129975" wrap="square" tIns="1299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17"/>
                <a:buFont typeface="Arial"/>
                <a:buNone/>
              </a:pPr>
              <a:r>
                <a:rPr b="1" i="0" lang="en-US" sz="2417" u="none" cap="none" strike="noStrike">
                  <a:solidFill>
                    <a:srgbClr val="FDB515"/>
                  </a:solidFill>
                  <a:latin typeface="Inter"/>
                  <a:ea typeface="Inter"/>
                  <a:cs typeface="Inter"/>
                  <a:sym typeface="Inter"/>
                </a:rPr>
                <a:t>[</a:t>
              </a:r>
              <a:r>
                <a:rPr b="1" i="0" lang="en-US" sz="2417" u="none" cap="none" strike="noStrik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#NeverStopLearning</a:t>
              </a:r>
              <a:r>
                <a:rPr b="1" i="0" lang="en-US" sz="2417" u="none" cap="none" strike="noStrike">
                  <a:solidFill>
                    <a:srgbClr val="FDB515"/>
                  </a:solidFill>
                  <a:latin typeface="Inter"/>
                  <a:ea typeface="Inter"/>
                  <a:cs typeface="Inter"/>
                  <a:sym typeface="Inter"/>
                </a:rPr>
                <a:t>]</a:t>
              </a:r>
              <a:endParaRPr b="1" i="0" sz="2417" u="none" cap="none" strike="noStrike">
                <a:solidFill>
                  <a:srgbClr val="FDB5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3" name="Google Shape;373;g3f82928f0c3_0_954"/>
            <p:cNvSpPr txBox="1"/>
            <p:nvPr/>
          </p:nvSpPr>
          <p:spPr>
            <a:xfrm>
              <a:off x="2474400" y="5165110"/>
              <a:ext cx="7054200" cy="61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9975" lIns="129975" spcFirstLastPara="1" rIns="129975" wrap="square" tIns="1299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48"/>
                <a:buFont typeface="Arial"/>
                <a:buNone/>
              </a:pPr>
              <a:r>
                <a:rPr b="0" i="0" lang="en-US" sz="1848" u="none" cap="none" strike="noStrike">
                  <a:solidFill>
                    <a:schemeClr val="lt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Fortune Institute of International Business (FIIB)</a:t>
              </a:r>
              <a:endParaRPr b="0" i="0" sz="1848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74" name="Google Shape;374;g3f82928f0c3_0_954"/>
            <p:cNvSpPr txBox="1"/>
            <p:nvPr/>
          </p:nvSpPr>
          <p:spPr>
            <a:xfrm>
              <a:off x="2544300" y="5597973"/>
              <a:ext cx="6914400" cy="4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9975" lIns="129975" spcFirstLastPara="1" rIns="129975" wrap="square" tIns="1299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5"/>
                <a:buFont typeface="Arial"/>
                <a:buNone/>
              </a:pPr>
              <a:r>
                <a:rPr b="0" i="0" lang="en-US" sz="995" u="none" cap="none" strike="noStrik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Plot No. 5, Rao Tula Ram Marg, Opposite Army R&amp;R Hospital, Vasant Vihar, New Delhi, Delhi 110057 admissions@fiib.edu.in | +91 74283 44339 | www.fiib.edu.in | @fiibindia</a:t>
              </a:r>
              <a:endParaRPr b="0" i="0" sz="995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